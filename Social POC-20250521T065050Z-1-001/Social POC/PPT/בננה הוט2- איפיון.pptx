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6600"/>
    <a:srgbClr val="CC00CC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2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129-8459-458F-8B75-98E61C4902E8}" type="datetimeFigureOut">
              <a:rPr lang="en-IL" smtClean="0"/>
              <a:t>11/23/2021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E906F268-4322-452C-97B0-CB354C81C48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26128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129-8459-458F-8B75-98E61C4902E8}" type="datetimeFigureOut">
              <a:rPr lang="en-IL" smtClean="0"/>
              <a:t>11/23/2021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F268-4322-452C-97B0-CB354C81C48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61518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514D4129-8459-458F-8B75-98E61C4902E8}" type="datetimeFigureOut">
              <a:rPr lang="en-IL" smtClean="0"/>
              <a:t>11/23/2021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L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E906F268-4322-452C-97B0-CB354C81C48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0315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129-8459-458F-8B75-98E61C4902E8}" type="datetimeFigureOut">
              <a:rPr lang="en-IL" smtClean="0"/>
              <a:t>11/23/2021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F268-4322-452C-97B0-CB354C81C48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51394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129-8459-458F-8B75-98E61C4902E8}" type="datetimeFigureOut">
              <a:rPr lang="en-IL" smtClean="0"/>
              <a:t>11/23/2021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F268-4322-452C-97B0-CB354C81C48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38322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129-8459-458F-8B75-98E61C4902E8}" type="datetimeFigureOut">
              <a:rPr lang="en-IL" smtClean="0"/>
              <a:t>11/23/2021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F268-4322-452C-97B0-CB354C81C48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04307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129-8459-458F-8B75-98E61C4902E8}" type="datetimeFigureOut">
              <a:rPr lang="en-IL" smtClean="0"/>
              <a:t>11/23/2021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F268-4322-452C-97B0-CB354C81C48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20713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129-8459-458F-8B75-98E61C4902E8}" type="datetimeFigureOut">
              <a:rPr lang="en-IL" smtClean="0"/>
              <a:t>11/23/2021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F268-4322-452C-97B0-CB354C81C48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27172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129-8459-458F-8B75-98E61C4902E8}" type="datetimeFigureOut">
              <a:rPr lang="en-IL" smtClean="0"/>
              <a:t>11/23/2021</a:t>
            </a:fld>
            <a:endParaRPr lang="en-IL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F268-4322-452C-97B0-CB354C81C48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16336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129-8459-458F-8B75-98E61C4902E8}" type="datetimeFigureOut">
              <a:rPr lang="en-IL" smtClean="0"/>
              <a:t>11/23/2021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F268-4322-452C-97B0-CB354C81C48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09048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129-8459-458F-8B75-98E61C4902E8}" type="datetimeFigureOut">
              <a:rPr lang="en-IL" smtClean="0"/>
              <a:t>11/23/2021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F268-4322-452C-97B0-CB354C81C48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96828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14D4129-8459-458F-8B75-98E61C4902E8}" type="datetimeFigureOut">
              <a:rPr lang="en-IL" smtClean="0"/>
              <a:t>11/23/2021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L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E906F268-4322-452C-97B0-CB354C81C48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53447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r" defTabSz="914400" rtl="1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5908B-8D91-4322-BC29-1F85067CC0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1049" y="314366"/>
            <a:ext cx="6294618" cy="1040105"/>
          </a:xfrm>
        </p:spPr>
        <p:txBody>
          <a:bodyPr anchor="ctr">
            <a:normAutofit fontScale="90000"/>
          </a:bodyPr>
          <a:lstStyle/>
          <a:p>
            <a:pPr algn="l" rtl="1"/>
            <a:r>
              <a:rPr lang="he-IL" sz="4400" dirty="0">
                <a:solidFill>
                  <a:srgbClr val="0070C0"/>
                </a:solidFill>
              </a:rPr>
              <a:t>מתחילים ליצור </a:t>
            </a:r>
            <a:r>
              <a:rPr lang="en-US" sz="4400" dirty="0">
                <a:solidFill>
                  <a:srgbClr val="CC00CC"/>
                </a:solidFill>
              </a:rPr>
              <a:t>Social graph </a:t>
            </a:r>
            <a:br>
              <a:rPr lang="en-IL" sz="4400" dirty="0">
                <a:solidFill>
                  <a:srgbClr val="CC00CC"/>
                </a:solidFill>
              </a:rPr>
            </a:br>
            <a:r>
              <a:rPr lang="he-IL" sz="4400" dirty="0">
                <a:solidFill>
                  <a:srgbClr val="0070C0"/>
                </a:solidFill>
              </a:rPr>
              <a:t> </a:t>
            </a:r>
            <a:endParaRPr lang="en-IL" sz="4400" dirty="0">
              <a:solidFill>
                <a:srgbClr val="0070C0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538F103-5953-40D8-AEB4-8C56D9108E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5343" y="1128033"/>
            <a:ext cx="10732173" cy="2595561"/>
          </a:xfrm>
        </p:spPr>
        <p:txBody>
          <a:bodyPr>
            <a:noAutofit/>
          </a:bodyPr>
          <a:lstStyle/>
          <a:p>
            <a:pPr marL="571500" indent="-571500" algn="r" rtl="1">
              <a:buFont typeface="+mj-lt"/>
              <a:buAutoNum type="alphaLcParenR"/>
            </a:pPr>
            <a:r>
              <a:rPr lang="he-IL" sz="1800" dirty="0"/>
              <a:t>מי המתחרים? </a:t>
            </a:r>
            <a:br>
              <a:rPr lang="en-US" sz="1800" dirty="0"/>
            </a:br>
            <a:r>
              <a:rPr lang="he-IL" sz="1400" dirty="0"/>
              <a:t>עדיף שיהייה להם דף אינסטגרם</a:t>
            </a:r>
            <a:br>
              <a:rPr lang="en-US" sz="1400" dirty="0"/>
            </a:br>
            <a:endParaRPr lang="he-IL" sz="1400" dirty="0"/>
          </a:p>
          <a:p>
            <a:pPr marL="571500" indent="-571500" algn="r" rtl="1">
              <a:buFont typeface="+mj-lt"/>
              <a:buAutoNum type="alphaLcParenR"/>
            </a:pPr>
            <a:r>
              <a:rPr lang="he-IL" sz="1800" dirty="0"/>
              <a:t>מי מוכר לקהל יעד זהה ?</a:t>
            </a:r>
            <a:br>
              <a:rPr lang="en-US" sz="1800" dirty="0"/>
            </a:br>
            <a:r>
              <a:rPr lang="he-IL" sz="1400" dirty="0"/>
              <a:t>אפשר וכדאי להרחיב לפי כל סוג עסק שפונה לאותה אוכלוסייה שהיא כיום קהל היעד או קהל יעד שרוצה לפנות אליו, גם אם הוא לא במתחרה.</a:t>
            </a:r>
            <a:br>
              <a:rPr lang="en-US" sz="1400" dirty="0"/>
            </a:br>
            <a:r>
              <a:rPr lang="he-IL" sz="1400" dirty="0"/>
              <a:t>אני חושבת על מותגי אפנה/ איפור/ קוסמטיקה/ תכשיטים/ משקפי שמש/ טיפולי פנים (כמו שימוש בחומצה היאלרונית) ועוד. </a:t>
            </a:r>
            <a:br>
              <a:rPr lang="en-US" sz="1400" dirty="0"/>
            </a:br>
            <a:r>
              <a:rPr lang="he-IL" sz="1400" dirty="0"/>
              <a:t>טל, פה היצירתיות שלכם ושל נטע מההיכרות שלה על העסק תביא לנו קהל ראשוני מעניין לניתוח.</a:t>
            </a:r>
            <a:br>
              <a:rPr lang="en-US" sz="1400" dirty="0"/>
            </a:br>
            <a:br>
              <a:rPr lang="en-US" sz="1400" dirty="0"/>
            </a:br>
            <a:r>
              <a:rPr lang="he-IL" sz="1400" dirty="0"/>
              <a:t>לדוגמא דפים של דיור, ראלף לורן, לואיס ויטון, פדני, ג'ק קובה, שאנל, מלכה דיזינגוף (תכשיטים), מאליס (קרמים) ועוד ועוד...</a:t>
            </a:r>
          </a:p>
          <a:p>
            <a:pPr lvl="1" algn="r" rtl="1"/>
            <a:endParaRPr lang="he-IL" sz="1400" dirty="0"/>
          </a:p>
          <a:p>
            <a:pPr marL="571500" indent="-571500" algn="r" rtl="1">
              <a:buFont typeface="+mj-lt"/>
              <a:buAutoNum type="alphaLcParenR"/>
            </a:pPr>
            <a:r>
              <a:rPr lang="he-IL" sz="1800" dirty="0"/>
              <a:t>מי מתכנן נופש? בעדיפות לנופש יוקרתי</a:t>
            </a:r>
          </a:p>
          <a:p>
            <a:pPr marL="1028700" lvl="1" indent="-571500" algn="r" rtl="1">
              <a:buFont typeface="+mj-lt"/>
              <a:buAutoNum type="alphaLcParenR"/>
            </a:pPr>
            <a:r>
              <a:rPr lang="he-IL" sz="1400" dirty="0"/>
              <a:t>קבוצת אינסטגרם לחיפוש המלצות לטיול בחו"ל ו/או בארץ (עדיף קבוצות ממוקדות, למשל חיפוש ריזורטים בקאריביים)</a:t>
            </a:r>
          </a:p>
          <a:p>
            <a:pPr marL="1028700" lvl="1" indent="-571500" algn="r" rtl="1">
              <a:buFont typeface="+mj-lt"/>
              <a:buAutoNum type="alphaLcParenR"/>
            </a:pPr>
            <a:r>
              <a:rPr lang="he-IL" sz="1400" dirty="0"/>
              <a:t>קבוצת פייסבוק לחיפוש המלצות לטיול בחו"ל ו/או בארץ</a:t>
            </a:r>
          </a:p>
          <a:p>
            <a:pPr lvl="1" algn="r" rtl="1"/>
            <a:endParaRPr lang="he-IL" sz="1400" dirty="0"/>
          </a:p>
          <a:p>
            <a:pPr marL="571500" indent="-571500" algn="r" rtl="1">
              <a:buFont typeface="+mj-lt"/>
              <a:buAutoNum type="alphaLcParenR"/>
            </a:pPr>
            <a:r>
              <a:rPr lang="he-IL" sz="1800" dirty="0"/>
              <a:t>מיהם מובילי דעת הקהל והמשפיענים הכי רלוונטיים:</a:t>
            </a:r>
          </a:p>
          <a:p>
            <a:pPr marL="1028700" lvl="1" indent="-571500" algn="r" rtl="1">
              <a:buFont typeface="+mj-lt"/>
              <a:buAutoNum type="alphaLcParenR"/>
            </a:pPr>
            <a:r>
              <a:rPr lang="he-IL" sz="1400" dirty="0"/>
              <a:t>משפיענים ישירים</a:t>
            </a:r>
          </a:p>
          <a:p>
            <a:pPr marL="1028700" lvl="1" indent="-571500" algn="r" rtl="1">
              <a:buFont typeface="+mj-lt"/>
              <a:buAutoNum type="alphaLcParenR"/>
            </a:pPr>
            <a:r>
              <a:rPr lang="he-IL" sz="1400" dirty="0"/>
              <a:t>משפיענים עקיפים - למשל בלוגר שקשור לטיולים ומפרסם ברים ביעדי נופש</a:t>
            </a:r>
          </a:p>
          <a:p>
            <a:pPr marL="1028700" lvl="1" indent="-571500" algn="r" rtl="1">
              <a:buFont typeface="+mj-lt"/>
              <a:buAutoNum type="alphaLcParenR"/>
            </a:pPr>
            <a:r>
              <a:rPr lang="he-IL" sz="1400" dirty="0"/>
              <a:t>סימן שאלה, אנחנו רוצים עובדים בחדרי כושר / מאמנים / יוגיסטים? </a:t>
            </a:r>
          </a:p>
          <a:p>
            <a:pPr lvl="1" algn="r" rtl="1"/>
            <a:endParaRPr lang="he-IL" sz="1400" dirty="0"/>
          </a:p>
          <a:p>
            <a:pPr marL="571500" indent="-571500" algn="r" rtl="1">
              <a:buFont typeface="+mj-lt"/>
              <a:buAutoNum type="alphaLcParenR"/>
            </a:pPr>
            <a:r>
              <a:rPr lang="he-IL" sz="1800" dirty="0"/>
              <a:t>יש קבוצת וואטסאפ שהיינו רוצים להיכנס אליה? </a:t>
            </a:r>
          </a:p>
          <a:p>
            <a:pPr lvl="1" algn="r" rtl="1"/>
            <a:endParaRPr lang="he-IL" sz="1400" dirty="0"/>
          </a:p>
        </p:txBody>
      </p:sp>
    </p:spTree>
    <p:extLst>
      <p:ext uri="{BB962C8B-B14F-4D97-AF65-F5344CB8AC3E}">
        <p14:creationId xmlns:p14="http://schemas.microsoft.com/office/powerpoint/2010/main" val="1742341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2754FB5-3F2B-4EC8-B245-FCD01B5EA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 err="1"/>
              <a:t>איפיון</a:t>
            </a:r>
            <a:r>
              <a:rPr lang="he-IL" dirty="0"/>
              <a:t> החברה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DFF9671-D384-4635-94BA-C9E7038CE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he-IL" dirty="0"/>
              <a:t>אתר סחר ישראלי: קניה בשקלים</a:t>
            </a:r>
            <a:endParaRPr lang="en-US" dirty="0"/>
          </a:p>
          <a:p>
            <a:pPr marL="0" indent="0" algn="r">
              <a:buNone/>
            </a:pPr>
            <a:r>
              <a:rPr lang="en-US" dirty="0"/>
              <a:t>bananhotbikinis.co.il</a:t>
            </a:r>
          </a:p>
          <a:p>
            <a:pPr marL="0" indent="0" algn="r">
              <a:buNone/>
            </a:pPr>
            <a:r>
              <a:rPr lang="he-IL" dirty="0"/>
              <a:t>אתר סחר עולמי: </a:t>
            </a:r>
            <a:r>
              <a:rPr lang="he-IL" dirty="0" err="1"/>
              <a:t>דומיינים</a:t>
            </a:r>
            <a:r>
              <a:rPr lang="he-IL" dirty="0"/>
              <a:t> לא ישראליים, קניה בדולרים.</a:t>
            </a:r>
          </a:p>
          <a:p>
            <a:pPr marL="0" indent="0" algn="r">
              <a:buNone/>
            </a:pPr>
            <a:r>
              <a:rPr lang="en-US" dirty="0"/>
              <a:t>bananhotbikinis.com</a:t>
            </a:r>
          </a:p>
          <a:p>
            <a:pPr marL="0" indent="0" algn="r">
              <a:buNone/>
            </a:pPr>
            <a:endParaRPr lang="en-US" dirty="0"/>
          </a:p>
          <a:p>
            <a:pPr marL="0" indent="0" algn="r">
              <a:buNone/>
            </a:pPr>
            <a:r>
              <a:rPr lang="he-IL" dirty="0"/>
              <a:t>החברה חילקה את שני האתרים לשני קהלים שונים.</a:t>
            </a:r>
          </a:p>
          <a:p>
            <a:pPr marL="0" indent="0" algn="r">
              <a:buNone/>
            </a:pPr>
            <a:r>
              <a:rPr lang="he-IL" dirty="0"/>
              <a:t>שני חשבונות </a:t>
            </a:r>
            <a:r>
              <a:rPr lang="he-IL" dirty="0" err="1"/>
              <a:t>אנליטיקס</a:t>
            </a:r>
            <a:r>
              <a:rPr lang="he-IL" dirty="0"/>
              <a:t> שונים.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60D23346-1F20-4E0E-8C13-3A68879310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86" t="12529" r="12341" b="21172"/>
          <a:stretch/>
        </p:blipFill>
        <p:spPr>
          <a:xfrm>
            <a:off x="554290" y="617753"/>
            <a:ext cx="3389553" cy="150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848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FC05FF4-ED03-4B87-A1DB-64A60C327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קהל יעד: </a:t>
            </a:r>
            <a:r>
              <a:rPr lang="en-US" dirty="0"/>
              <a:t> 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CBE2472-97A5-445B-84AD-383176A56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he-IL" dirty="0"/>
              <a:t>נשים- גברים : 95%-5% לטובת הנשים</a:t>
            </a:r>
          </a:p>
          <a:p>
            <a:pPr marL="0" indent="0" algn="r">
              <a:buNone/>
            </a:pPr>
            <a:r>
              <a:rPr lang="he-IL" dirty="0"/>
              <a:t>גלאי- 16-35</a:t>
            </a:r>
          </a:p>
          <a:p>
            <a:pPr marL="0" indent="0" algn="r">
              <a:buNone/>
            </a:pPr>
            <a:r>
              <a:rPr lang="he-IL" dirty="0"/>
              <a:t>מתעסקות </a:t>
            </a:r>
            <a:r>
              <a:rPr lang="he-IL" dirty="0" err="1"/>
              <a:t>בתזונה,ספורט</a:t>
            </a:r>
            <a:r>
              <a:rPr lang="he-IL" dirty="0"/>
              <a:t> </a:t>
            </a:r>
            <a:r>
              <a:rPr lang="he-IL" dirty="0" err="1"/>
              <a:t>ולייףסטייל</a:t>
            </a:r>
            <a:r>
              <a:rPr lang="he-IL" dirty="0"/>
              <a:t>.</a:t>
            </a:r>
          </a:p>
          <a:p>
            <a:pPr marL="0" indent="0" algn="r">
              <a:buNone/>
            </a:pPr>
            <a:r>
              <a:rPr lang="he-IL" dirty="0"/>
              <a:t>*עיקרי הרכישות היום- 18-24 רק נשים (שקונות גם לגברים שלהם).</a:t>
            </a:r>
          </a:p>
          <a:p>
            <a:pPr marL="0" indent="0" algn="r">
              <a:buNone/>
            </a:pPr>
            <a:endParaRPr lang="he-IL" dirty="0"/>
          </a:p>
          <a:p>
            <a:pPr marL="0" indent="0" algn="r">
              <a:buNone/>
            </a:pPr>
            <a:r>
              <a:rPr lang="he-IL" b="1" dirty="0"/>
              <a:t>מה </a:t>
            </a:r>
            <a:r>
              <a:rPr lang="he-IL" b="1" dirty="0" err="1"/>
              <a:t>בננהוט</a:t>
            </a:r>
            <a:r>
              <a:rPr lang="he-IL" b="1" dirty="0"/>
              <a:t> מציעה לקהל לקוחותיה?</a:t>
            </a:r>
          </a:p>
          <a:p>
            <a:pPr marL="0" indent="0" algn="r">
              <a:buNone/>
            </a:pPr>
            <a:r>
              <a:rPr lang="he-IL" dirty="0"/>
              <a:t>אתר סחר המגדיר את המותג באופן מובהק. ללא הנחות וללא עונתיות. בדים </a:t>
            </a:r>
            <a:r>
              <a:rPr lang="he-IL" dirty="0" err="1"/>
              <a:t>איכותיים,עיצובים</a:t>
            </a:r>
            <a:r>
              <a:rPr lang="he-IL" dirty="0"/>
              <a:t> </a:t>
            </a:r>
            <a:r>
              <a:rPr lang="he-IL" dirty="0" err="1"/>
              <a:t>שונים,חושפניים</a:t>
            </a:r>
            <a:r>
              <a:rPr lang="he-IL" dirty="0"/>
              <a:t> </a:t>
            </a:r>
            <a:r>
              <a:rPr lang="he-IL" dirty="0" err="1"/>
              <a:t>וסקסיים.דוגמניות</a:t>
            </a:r>
            <a:r>
              <a:rPr lang="he-IL" dirty="0"/>
              <a:t> ידועות מובילות את הפרסום מ-א'-ת'  (שפה אחידה), משלוח מהיר לכל מקום בעולם (עם אפשרות להחזרה).</a:t>
            </a:r>
            <a:r>
              <a:rPr lang="en-US" dirty="0"/>
              <a:t> </a:t>
            </a:r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2833E785-C6F0-4B9B-9C72-75A297017F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86" t="12529" r="12341" b="21172"/>
          <a:stretch/>
        </p:blipFill>
        <p:spPr>
          <a:xfrm>
            <a:off x="184639" y="5708915"/>
            <a:ext cx="2110154" cy="93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730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5EA69C4-E0E9-4F14-8A69-F3BEFB7E1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6208" y="260515"/>
            <a:ext cx="10058400" cy="1609344"/>
          </a:xfrm>
        </p:spPr>
        <p:txBody>
          <a:bodyPr/>
          <a:lstStyle/>
          <a:p>
            <a:pPr algn="r"/>
            <a:r>
              <a:rPr lang="he-IL" dirty="0"/>
              <a:t>איך החברה שלנו באה לידי ביטוי ל-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20992C7-B8EB-4F26-8D26-B6ADB2C17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4673" y="1598246"/>
            <a:ext cx="10058400" cy="4999239"/>
          </a:xfrm>
        </p:spPr>
        <p:txBody>
          <a:bodyPr>
            <a:normAutofit lnSpcReduction="10000"/>
          </a:bodyPr>
          <a:lstStyle/>
          <a:p>
            <a:pPr marL="0" indent="0" algn="r">
              <a:buNone/>
            </a:pPr>
            <a:r>
              <a:rPr lang="he-IL" dirty="0"/>
              <a:t>למותג </a:t>
            </a:r>
            <a:r>
              <a:rPr lang="he-IL" dirty="0" err="1"/>
              <a:t>פרזנטוריות</a:t>
            </a:r>
            <a:r>
              <a:rPr lang="he-IL" dirty="0"/>
              <a:t> חזקות מאוד </a:t>
            </a:r>
            <a:r>
              <a:rPr lang="he-IL" dirty="0" err="1"/>
              <a:t>בסושיאל</a:t>
            </a:r>
            <a:r>
              <a:rPr lang="he-IL" dirty="0"/>
              <a:t> בישראל.</a:t>
            </a:r>
          </a:p>
          <a:p>
            <a:pPr marL="0" indent="0" algn="r">
              <a:buNone/>
            </a:pPr>
            <a:r>
              <a:rPr lang="he-IL" dirty="0" err="1"/>
              <a:t>הכח</a:t>
            </a:r>
            <a:r>
              <a:rPr lang="he-IL" dirty="0"/>
              <a:t> של </a:t>
            </a:r>
            <a:r>
              <a:rPr lang="he-IL" dirty="0" err="1"/>
              <a:t>בננההוט</a:t>
            </a:r>
            <a:r>
              <a:rPr lang="he-IL" dirty="0"/>
              <a:t> </a:t>
            </a:r>
            <a:r>
              <a:rPr lang="he-IL" dirty="0" err="1"/>
              <a:t>ניכן</a:t>
            </a:r>
            <a:r>
              <a:rPr lang="he-IL" dirty="0"/>
              <a:t> </a:t>
            </a:r>
            <a:r>
              <a:rPr lang="he-IL" dirty="0" err="1"/>
              <a:t>בכח</a:t>
            </a:r>
            <a:r>
              <a:rPr lang="he-IL" dirty="0"/>
              <a:t> עצום של מכירה אורגנית.</a:t>
            </a:r>
          </a:p>
          <a:p>
            <a:pPr marL="0" indent="0" algn="r">
              <a:buNone/>
            </a:pPr>
            <a:endParaRPr lang="he-IL" dirty="0"/>
          </a:p>
          <a:p>
            <a:pPr marL="0" indent="0" algn="r">
              <a:buNone/>
            </a:pPr>
            <a:r>
              <a:rPr lang="he-IL" b="1" u="sng" dirty="0"/>
              <a:t>אז.. איפה כל החברות שלך?</a:t>
            </a:r>
          </a:p>
          <a:p>
            <a:pPr marL="0" indent="0" algn="r">
              <a:buNone/>
            </a:pPr>
            <a:r>
              <a:rPr lang="he-IL" dirty="0"/>
              <a:t>ניתן לפלח את החברות בכמה מובנים ומספר מקומות ברשתות:</a:t>
            </a:r>
          </a:p>
          <a:p>
            <a:pPr marL="0" indent="0" algn="r">
              <a:buNone/>
            </a:pPr>
            <a:r>
              <a:rPr lang="he-IL" dirty="0"/>
              <a:t>*קבוצות לייף סטייל ורכש </a:t>
            </a:r>
          </a:p>
          <a:p>
            <a:pPr marL="0" indent="0" algn="r">
              <a:buNone/>
            </a:pPr>
            <a:r>
              <a:rPr lang="he-IL" dirty="0"/>
              <a:t>*קבוצות תזונה וספורט</a:t>
            </a:r>
          </a:p>
          <a:p>
            <a:pPr marL="0" indent="0" algn="r">
              <a:buNone/>
            </a:pPr>
            <a:r>
              <a:rPr lang="he-IL" dirty="0"/>
              <a:t>*קבוצות הכנה לטיולים</a:t>
            </a:r>
          </a:p>
          <a:p>
            <a:pPr marL="0" indent="0" algn="r">
              <a:buNone/>
            </a:pPr>
            <a:r>
              <a:rPr lang="he-IL" dirty="0"/>
              <a:t>*הכנה למסיבות רווקות</a:t>
            </a:r>
          </a:p>
          <a:p>
            <a:pPr marL="0" indent="0" algn="r">
              <a:buNone/>
            </a:pPr>
            <a:r>
              <a:rPr lang="he-IL" dirty="0"/>
              <a:t>*</a:t>
            </a:r>
            <a:r>
              <a:rPr lang="he-IL" dirty="0" err="1"/>
              <a:t>טרגוט</a:t>
            </a:r>
            <a:r>
              <a:rPr lang="he-IL" dirty="0"/>
              <a:t> של אזורי מגורים (מושבים עם ברכות..)</a:t>
            </a:r>
          </a:p>
          <a:p>
            <a:pPr marL="0" indent="0" algn="r">
              <a:buNone/>
            </a:pPr>
            <a:r>
              <a:rPr lang="he-IL" dirty="0"/>
              <a:t>*עוקבים אחרי תוכניות טלוויזיה- האח הגדול, </a:t>
            </a:r>
            <a:r>
              <a:rPr lang="he-IL" dirty="0" err="1"/>
              <a:t>חתונמי</a:t>
            </a:r>
            <a:endParaRPr lang="he-IL" dirty="0"/>
          </a:p>
          <a:p>
            <a:pPr marL="0" indent="0" algn="r">
              <a:buNone/>
            </a:pPr>
            <a:r>
              <a:rPr lang="he-IL" dirty="0"/>
              <a:t>*עוקבים אחרי </a:t>
            </a:r>
            <a:r>
              <a:rPr lang="he-IL" dirty="0" err="1"/>
              <a:t>אינסטוש</a:t>
            </a:r>
            <a:r>
              <a:rPr lang="he-IL" dirty="0"/>
              <a:t> </a:t>
            </a:r>
            <a:r>
              <a:rPr lang="he-IL" dirty="0" err="1"/>
              <a:t>ופייסוש</a:t>
            </a:r>
            <a:endParaRPr lang="he-IL" dirty="0">
              <a:highlight>
                <a:srgbClr val="FFFF00"/>
              </a:highlight>
            </a:endParaRPr>
          </a:p>
          <a:p>
            <a:pPr marL="0" indent="0" algn="r">
              <a:buNone/>
            </a:pPr>
            <a:endParaRPr lang="he-IL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43B201BE-71C5-4FFE-8BB6-5FE008260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308" y="1898705"/>
            <a:ext cx="2910254" cy="1872331"/>
          </a:xfrm>
          <a:prstGeom prst="rect">
            <a:avLst/>
          </a:prstGeom>
        </p:spPr>
      </p:pic>
      <p:sp>
        <p:nvSpPr>
          <p:cNvPr id="5" name="חץ: למטה 4">
            <a:extLst>
              <a:ext uri="{FF2B5EF4-FFF2-40B4-BE49-F238E27FC236}">
                <a16:creationId xmlns:a16="http://schemas.microsoft.com/office/drawing/2014/main" id="{0CDA289C-D3A0-49A4-91F5-903560AFA488}"/>
              </a:ext>
            </a:extLst>
          </p:cNvPr>
          <p:cNvSpPr/>
          <p:nvPr/>
        </p:nvSpPr>
        <p:spPr>
          <a:xfrm>
            <a:off x="1840399" y="3872170"/>
            <a:ext cx="386862" cy="6330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5BCD70-499E-4FDF-AFD5-C55A147DE654}"/>
              </a:ext>
            </a:extLst>
          </p:cNvPr>
          <p:cNvSpPr txBox="1"/>
          <p:nvPr/>
        </p:nvSpPr>
        <p:spPr>
          <a:xfrm>
            <a:off x="1217673" y="4629024"/>
            <a:ext cx="1632314" cy="17543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b="1" u="sng" dirty="0" err="1"/>
              <a:t>אינסטגרם</a:t>
            </a:r>
            <a:r>
              <a:rPr lang="he-IL" b="1" u="sng" dirty="0"/>
              <a:t>:</a:t>
            </a:r>
            <a:endParaRPr lang="en-US" b="1" u="sng" dirty="0"/>
          </a:p>
          <a:p>
            <a:pPr algn="r"/>
            <a:r>
              <a:rPr lang="he-IL" dirty="0"/>
              <a:t>נטע- 1.7 מיליון</a:t>
            </a:r>
          </a:p>
          <a:p>
            <a:pPr algn="r"/>
            <a:r>
              <a:rPr lang="he-IL" dirty="0"/>
              <a:t>נועה- 439 אלף</a:t>
            </a:r>
          </a:p>
          <a:p>
            <a:pPr algn="r"/>
            <a:r>
              <a:rPr lang="he-IL" b="1" u="sng" dirty="0" err="1"/>
              <a:t>פייסבוק</a:t>
            </a:r>
            <a:r>
              <a:rPr lang="he-IL" b="1" u="sng" dirty="0"/>
              <a:t>:</a:t>
            </a:r>
          </a:p>
          <a:p>
            <a:pPr algn="r"/>
            <a:r>
              <a:rPr lang="he-IL" dirty="0"/>
              <a:t>נטע- 34 אלף </a:t>
            </a:r>
          </a:p>
          <a:p>
            <a:pPr algn="r"/>
            <a:r>
              <a:rPr lang="he-IL" dirty="0">
                <a:highlight>
                  <a:srgbClr val="FFFFFF"/>
                </a:highlight>
              </a:rPr>
              <a:t>נועה- 1,150</a:t>
            </a:r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D0B1288F-4B4E-47E5-9BC0-7BE459F282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86" t="12529" r="12341" b="21172"/>
          <a:stretch/>
        </p:blipFill>
        <p:spPr>
          <a:xfrm>
            <a:off x="791308" y="607614"/>
            <a:ext cx="2110154" cy="93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046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FED4903-4EE9-4647-AA60-973828478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u="sng" dirty="0"/>
              <a:t>איך אנחנו נגיע אליהם?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5ED1C8C-99F0-49CF-8965-324522475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52" y="1876050"/>
            <a:ext cx="10234364" cy="4768960"/>
          </a:xfrm>
        </p:spPr>
        <p:txBody>
          <a:bodyPr>
            <a:normAutofit lnSpcReduction="10000"/>
          </a:bodyPr>
          <a:lstStyle/>
          <a:p>
            <a:pPr marL="0" indent="0" algn="r">
              <a:buNone/>
            </a:pPr>
            <a:r>
              <a:rPr lang="he-IL" b="1" dirty="0"/>
              <a:t>אסטרטגיה של אותנטיות ומערך חשיפה </a:t>
            </a:r>
            <a:r>
              <a:rPr lang="he-IL" b="1" dirty="0" err="1"/>
              <a:t>למשפיעניות</a:t>
            </a:r>
            <a:r>
              <a:rPr lang="he-IL" b="1" dirty="0"/>
              <a:t> רלוונטיות-</a:t>
            </a:r>
            <a:endParaRPr lang="he-IL" dirty="0"/>
          </a:p>
          <a:p>
            <a:pPr marL="0" indent="0" algn="r">
              <a:buNone/>
            </a:pPr>
            <a:r>
              <a:rPr lang="he-IL" b="1" dirty="0"/>
              <a:t>דרך א'- </a:t>
            </a:r>
            <a:r>
              <a:rPr lang="he-IL" dirty="0"/>
              <a:t>"נתחזה ללקוחה מרוצה"- נציע הנחה\בגד ים בחינם ונעביר את המסר בצורה טובה ואותנטית לחברות שלה ולקהל "דומה" לה ברשתות. נוכל ל"צבוע" את כל המגיבות לנושא וכד'..</a:t>
            </a:r>
          </a:p>
          <a:p>
            <a:pPr marL="0" indent="0" algn="r">
              <a:buNone/>
            </a:pPr>
            <a:r>
              <a:rPr lang="he-IL" b="1" dirty="0"/>
              <a:t>דרך ב'- </a:t>
            </a:r>
            <a:r>
              <a:rPr lang="he-IL" dirty="0"/>
              <a:t>נגיע ללקוחה מרוצה (שרכשה סל מוצרים גדול) ונשלח </a:t>
            </a:r>
            <a:r>
              <a:rPr lang="he-IL" dirty="0" err="1"/>
              <a:t>מאיתנו</a:t>
            </a:r>
            <a:r>
              <a:rPr lang="he-IL" dirty="0"/>
              <a:t> מתנה קטנה בתמורת למשפט מפתח ברשתות.</a:t>
            </a:r>
          </a:p>
          <a:p>
            <a:pPr marL="0" indent="0" algn="r">
              <a:buNone/>
            </a:pPr>
            <a:endParaRPr lang="he-IL" dirty="0"/>
          </a:p>
          <a:p>
            <a:pPr marL="0" indent="0" algn="r">
              <a:buNone/>
            </a:pPr>
            <a:r>
              <a:rPr lang="he-IL" dirty="0"/>
              <a:t>התגובות האותנטיות יעברו הלאה לכניסה לאתר\רכישה ונגדיל את </a:t>
            </a:r>
            <a:r>
              <a:rPr lang="he-IL" dirty="0" err="1"/>
              <a:t>הטראפיק</a:t>
            </a:r>
            <a:r>
              <a:rPr lang="he-IL" dirty="0"/>
              <a:t> לאתר. </a:t>
            </a:r>
            <a:r>
              <a:rPr lang="he-IL" dirty="0" err="1"/>
              <a:t>הטראפיק</a:t>
            </a:r>
            <a:r>
              <a:rPr lang="he-IL" dirty="0"/>
              <a:t> ירחיב לנו את מעגלי החברים של החברות של </a:t>
            </a:r>
            <a:r>
              <a:rPr lang="he-IL" dirty="0" err="1"/>
              <a:t>הבני</a:t>
            </a:r>
            <a:r>
              <a:rPr lang="he-IL" dirty="0"/>
              <a:t> דודים והדודות.</a:t>
            </a:r>
          </a:p>
          <a:p>
            <a:pPr marL="0" indent="0" algn="r">
              <a:buNone/>
            </a:pPr>
            <a:endParaRPr lang="he-IL" dirty="0"/>
          </a:p>
          <a:p>
            <a:pPr marL="0" indent="0" algn="r">
              <a:buNone/>
            </a:pPr>
            <a:r>
              <a:rPr lang="he-IL" dirty="0"/>
              <a:t>כחברה שיודעת לרדת "</a:t>
            </a:r>
            <a:r>
              <a:rPr lang="he-IL" dirty="0" err="1"/>
              <a:t>דריל</a:t>
            </a:r>
            <a:r>
              <a:rPr lang="he-IL" dirty="0"/>
              <a:t> דאון" ולמצוא את "החברות של החברות" נוכל להגיע לקהל מתעניינים גדול. </a:t>
            </a:r>
          </a:p>
          <a:p>
            <a:pPr marL="0" indent="0" algn="r">
              <a:buNone/>
            </a:pPr>
            <a:endParaRPr lang="he-IL" dirty="0"/>
          </a:p>
          <a:p>
            <a:pPr marL="0" indent="0" algn="r">
              <a:buNone/>
            </a:pPr>
            <a:r>
              <a:rPr lang="he-IL" b="1" u="sng" dirty="0"/>
              <a:t>מעניין אה? תעברו שקופית.</a:t>
            </a:r>
          </a:p>
          <a:p>
            <a:pPr marL="0" indent="0" algn="r">
              <a:buNone/>
            </a:pPr>
            <a:r>
              <a:rPr lang="he-IL" dirty="0"/>
              <a:t> 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0E8B85B7-66C3-49D3-8E0F-05C780900B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86" t="12529" r="12341" b="21172"/>
          <a:stretch/>
        </p:blipFill>
        <p:spPr>
          <a:xfrm>
            <a:off x="184639" y="5708915"/>
            <a:ext cx="2110154" cy="93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404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D1078C-A3B2-4E44-A795-7AE60F568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010" y="183273"/>
            <a:ext cx="10058400" cy="1609344"/>
          </a:xfrm>
        </p:spPr>
        <p:txBody>
          <a:bodyPr/>
          <a:lstStyle/>
          <a:p>
            <a:pPr algn="r"/>
            <a:r>
              <a:rPr lang="he-IL" dirty="0"/>
              <a:t>זוכרים את זה? בואו נערוך את זה על</a:t>
            </a:r>
            <a:br>
              <a:rPr lang="he-IL" dirty="0"/>
            </a:br>
            <a:endParaRPr lang="he-IL" dirty="0"/>
          </a:p>
        </p:txBody>
      </p:sp>
      <p:pic>
        <p:nvPicPr>
          <p:cNvPr id="4" name="מציין מיקום תוכן 3">
            <a:extLst>
              <a:ext uri="{FF2B5EF4-FFF2-40B4-BE49-F238E27FC236}">
                <a16:creationId xmlns:a16="http://schemas.microsoft.com/office/drawing/2014/main" id="{FE00F19E-CF83-4A3F-9AEF-D4A2119BD6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5561" y="1011292"/>
            <a:ext cx="10155849" cy="16653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244744-824A-417F-A872-2565960A2A8D}"/>
              </a:ext>
            </a:extLst>
          </p:cNvPr>
          <p:cNvSpPr txBox="1"/>
          <p:nvPr/>
        </p:nvSpPr>
        <p:spPr>
          <a:xfrm>
            <a:off x="7983415" y="2646512"/>
            <a:ext cx="3244362" cy="147732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*רשימה של </a:t>
            </a:r>
            <a:r>
              <a:rPr lang="he-IL" dirty="0" err="1"/>
              <a:t>משפיעניות</a:t>
            </a:r>
            <a:r>
              <a:rPr lang="he-IL" dirty="0"/>
              <a:t> עם מספר עוקבים נמוך יחסית ,עם יכולת פוטנציאל גדול (טל מוציאה נתונים כבר ביום ראשון הקרוב)</a:t>
            </a:r>
          </a:p>
          <a:p>
            <a:endParaRPr lang="he-I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5E656A-C5E4-4AE3-AC40-D963939CF02E}"/>
              </a:ext>
            </a:extLst>
          </p:cNvPr>
          <p:cNvSpPr txBox="1"/>
          <p:nvPr/>
        </p:nvSpPr>
        <p:spPr>
          <a:xfrm>
            <a:off x="8203223" y="4156334"/>
            <a:ext cx="3024554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*דוגמני שוליים – מאחורי </a:t>
            </a:r>
            <a:r>
              <a:rPr lang="he-IL" dirty="0" err="1"/>
              <a:t>הפרזנטורים</a:t>
            </a:r>
            <a:endParaRPr lang="he-IL" dirty="0"/>
          </a:p>
          <a:p>
            <a:pPr algn="r"/>
            <a:endParaRPr lang="he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AF246A-5129-4B08-9F8B-14040E8F4BC3}"/>
              </a:ext>
            </a:extLst>
          </p:cNvPr>
          <p:cNvSpPr txBox="1"/>
          <p:nvPr/>
        </p:nvSpPr>
        <p:spPr>
          <a:xfrm>
            <a:off x="8748347" y="5134309"/>
            <a:ext cx="247943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 err="1"/>
              <a:t>משיפעניות</a:t>
            </a:r>
            <a:r>
              <a:rPr lang="he-IL" dirty="0"/>
              <a:t> וכוכבי </a:t>
            </a:r>
            <a:r>
              <a:rPr lang="he-IL" dirty="0" err="1"/>
              <a:t>יוטיוב</a:t>
            </a:r>
            <a:r>
              <a:rPr lang="he-IL" dirty="0"/>
              <a:t> לגיל 16+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76B3DC-5325-4DE6-8E14-47A1BD746CAA}"/>
              </a:ext>
            </a:extLst>
          </p:cNvPr>
          <p:cNvSpPr txBox="1"/>
          <p:nvPr/>
        </p:nvSpPr>
        <p:spPr>
          <a:xfrm>
            <a:off x="4580794" y="3074458"/>
            <a:ext cx="2769576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קהל שהעלה </a:t>
            </a:r>
            <a:r>
              <a:rPr lang="he-IL" dirty="0" err="1"/>
              <a:t>סטורי</a:t>
            </a:r>
            <a:r>
              <a:rPr lang="he-IL" dirty="0"/>
              <a:t>\תמונה עם שקית קניות של חברה כגון: זארה וכד'.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84039D-292F-4A83-B3D3-66247F0903DC}"/>
              </a:ext>
            </a:extLst>
          </p:cNvPr>
          <p:cNvSpPr txBox="1"/>
          <p:nvPr/>
        </p:nvSpPr>
        <p:spPr>
          <a:xfrm>
            <a:off x="4347799" y="4122332"/>
            <a:ext cx="2954214" cy="147732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קהל שהעלה ברשתות שקנה מוצר כמו "בושם של נועה </a:t>
            </a:r>
            <a:r>
              <a:rPr lang="he-IL" dirty="0" err="1"/>
              <a:t>קירל</a:t>
            </a:r>
            <a:r>
              <a:rPr lang="he-IL" dirty="0"/>
              <a:t>" ובישום של </a:t>
            </a:r>
            <a:r>
              <a:rPr lang="he-IL" dirty="0" err="1"/>
              <a:t>משפיענים</a:t>
            </a:r>
            <a:r>
              <a:rPr lang="he-IL" dirty="0"/>
              <a:t> נוספים</a:t>
            </a:r>
          </a:p>
          <a:p>
            <a:pPr algn="r"/>
            <a:endParaRPr lang="he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6E72A4-D13F-4DC5-89F5-5F53069F73EB}"/>
              </a:ext>
            </a:extLst>
          </p:cNvPr>
          <p:cNvSpPr txBox="1"/>
          <p:nvPr/>
        </p:nvSpPr>
        <p:spPr>
          <a:xfrm>
            <a:off x="4925891" y="5461914"/>
            <a:ext cx="2382716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קהל של נשים שמעלות תמונות גוף שלהן אחת לשבוע לפחות</a:t>
            </a:r>
          </a:p>
          <a:p>
            <a:pPr algn="r"/>
            <a:endParaRPr lang="he-I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BDF4FB-1FF6-4CA8-87BC-B9ADAAA0D6EC}"/>
              </a:ext>
            </a:extLst>
          </p:cNvPr>
          <p:cNvSpPr txBox="1"/>
          <p:nvPr/>
        </p:nvSpPr>
        <p:spPr>
          <a:xfrm>
            <a:off x="5257066" y="2554207"/>
            <a:ext cx="238271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נופשים נופשות בבגד ים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2CED51-B45F-44D6-BEE7-D1A363625FB4}"/>
              </a:ext>
            </a:extLst>
          </p:cNvPr>
          <p:cNvSpPr txBox="1"/>
          <p:nvPr/>
        </p:nvSpPr>
        <p:spPr>
          <a:xfrm>
            <a:off x="1946030" y="2515482"/>
            <a:ext cx="2256694" cy="424731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חברים קרובים של </a:t>
            </a:r>
            <a:r>
              <a:rPr lang="he-IL" dirty="0" err="1"/>
              <a:t>הפרזנטוריות</a:t>
            </a:r>
            <a:endParaRPr lang="he-IL" dirty="0"/>
          </a:p>
          <a:p>
            <a:pPr algn="r"/>
            <a:endParaRPr lang="he-IL" dirty="0"/>
          </a:p>
          <a:p>
            <a:pPr algn="r"/>
            <a:endParaRPr lang="he-IL" dirty="0"/>
          </a:p>
          <a:p>
            <a:pPr algn="r"/>
            <a:r>
              <a:rPr lang="he-IL" dirty="0"/>
              <a:t>חברים קרובים של </a:t>
            </a:r>
            <a:r>
              <a:rPr lang="he-IL" dirty="0" err="1"/>
              <a:t>משפיענים</a:t>
            </a:r>
            <a:r>
              <a:rPr lang="he-IL" dirty="0"/>
              <a:t> עם קהל יעד דומה</a:t>
            </a:r>
          </a:p>
          <a:p>
            <a:pPr algn="r"/>
            <a:endParaRPr lang="he-IL" dirty="0"/>
          </a:p>
          <a:p>
            <a:pPr algn="r"/>
            <a:endParaRPr lang="he-IL" dirty="0"/>
          </a:p>
          <a:p>
            <a:pPr algn="r"/>
            <a:r>
              <a:rPr lang="he-IL" dirty="0" err="1"/>
              <a:t>משפיענים</a:t>
            </a:r>
            <a:r>
              <a:rPr lang="he-IL" dirty="0"/>
              <a:t> בעלי כוח מכירה ללייף סטייל</a:t>
            </a:r>
          </a:p>
          <a:p>
            <a:pPr algn="r"/>
            <a:endParaRPr lang="he-IL" dirty="0"/>
          </a:p>
          <a:p>
            <a:pPr algn="r"/>
            <a:endParaRPr lang="he-IL" dirty="0"/>
          </a:p>
          <a:p>
            <a:pPr algn="r"/>
            <a:r>
              <a:rPr lang="he-IL" dirty="0" err="1"/>
              <a:t>משפיענים</a:t>
            </a:r>
            <a:r>
              <a:rPr lang="he-IL" dirty="0"/>
              <a:t> בנושא כושר ותזונה.</a:t>
            </a:r>
          </a:p>
        </p:txBody>
      </p:sp>
      <p:pic>
        <p:nvPicPr>
          <p:cNvPr id="13" name="תמונה 12">
            <a:extLst>
              <a:ext uri="{FF2B5EF4-FFF2-40B4-BE49-F238E27FC236}">
                <a16:creationId xmlns:a16="http://schemas.microsoft.com/office/drawing/2014/main" id="{FA1D23A6-83DE-4646-9227-79A4A43249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86" t="12529" r="12341" b="21172"/>
          <a:stretch/>
        </p:blipFill>
        <p:spPr>
          <a:xfrm>
            <a:off x="214008" y="144955"/>
            <a:ext cx="2110154" cy="93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25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A4C42E0-BB60-436D-A283-F3D245505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אז מה יצא לנו					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C7FD6F5-F9C5-487F-BAF6-AD34E5705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הגעה </a:t>
            </a:r>
            <a:r>
              <a:rPr lang="he-IL" dirty="0" err="1"/>
              <a:t>למשפיעניות</a:t>
            </a:r>
            <a:r>
              <a:rPr lang="he-IL" dirty="0"/>
              <a:t> לא מרשימה ה </a:t>
            </a:r>
            <a:r>
              <a:rPr lang="en-US" dirty="0"/>
              <a:t>A</a:t>
            </a:r>
            <a:r>
              <a:rPr lang="he-IL" dirty="0"/>
              <a:t> ליסט- למצוא את "</a:t>
            </a:r>
            <a:r>
              <a:rPr lang="he-IL" dirty="0" err="1"/>
              <a:t>המאחורי</a:t>
            </a:r>
            <a:r>
              <a:rPr lang="he-IL" dirty="0"/>
              <a:t> הקלעים"</a:t>
            </a:r>
          </a:p>
          <a:p>
            <a:r>
              <a:rPr lang="he-IL" dirty="0"/>
              <a:t>רשימת </a:t>
            </a:r>
            <a:r>
              <a:rPr lang="he-IL" dirty="0" err="1"/>
              <a:t>טוקבקים</a:t>
            </a:r>
            <a:r>
              <a:rPr lang="he-IL" dirty="0"/>
              <a:t> ותגובות בקבוצות שמצאנו שעוסקות בקהל יעד שלי</a:t>
            </a:r>
          </a:p>
          <a:p>
            <a:r>
              <a:rPr lang="he-IL" dirty="0"/>
              <a:t>אסטרטגיית האותנטיות </a:t>
            </a:r>
          </a:p>
          <a:p>
            <a:r>
              <a:rPr lang="he-IL" dirty="0"/>
              <a:t>שיחה על הנושא של חופשה, רכישה ועוד.. והגעה לדומים לו ברשת</a:t>
            </a:r>
          </a:p>
          <a:p>
            <a:r>
              <a:rPr lang="he-IL" dirty="0"/>
              <a:t>שילוב של מערך "צביעת קהל יעד" לנופשים </a:t>
            </a:r>
            <a:r>
              <a:rPr lang="he-IL" dirty="0" err="1"/>
              <a:t>בחול,רוכשים</a:t>
            </a:r>
            <a:r>
              <a:rPr lang="he-IL" dirty="0"/>
              <a:t> ועוד..</a:t>
            </a:r>
          </a:p>
          <a:p>
            <a:r>
              <a:rPr lang="he-IL" dirty="0"/>
              <a:t>תמונות ושיחות על "נובמבר </a:t>
            </a:r>
            <a:r>
              <a:rPr lang="he-IL" dirty="0" err="1"/>
              <a:t>סייל</a:t>
            </a:r>
            <a:r>
              <a:rPr lang="he-IL" dirty="0"/>
              <a:t>", מי קנה\צילם</a:t>
            </a:r>
          </a:p>
          <a:p>
            <a:r>
              <a:rPr lang="he-IL" dirty="0"/>
              <a:t>מערך רחב של מציאת "דומים ברשת"</a:t>
            </a:r>
          </a:p>
          <a:p>
            <a:endParaRPr lang="he-IL" dirty="0"/>
          </a:p>
          <a:p>
            <a:r>
              <a:rPr lang="he-IL" dirty="0"/>
              <a:t>כל זה ועוד קמפיין גוגל </a:t>
            </a:r>
            <a:r>
              <a:rPr lang="he-IL" dirty="0" err="1"/>
              <a:t>פייסבוק</a:t>
            </a:r>
            <a:r>
              <a:rPr lang="he-IL" dirty="0"/>
              <a:t> לנפש, יכול לעלות אותו לתודעת </a:t>
            </a:r>
            <a:r>
              <a:rPr lang="he-IL" dirty="0" err="1"/>
              <a:t>השיחות,התיוגים</a:t>
            </a:r>
            <a:r>
              <a:rPr lang="he-IL" dirty="0"/>
              <a:t> </a:t>
            </a:r>
            <a:r>
              <a:rPr lang="he-IL" dirty="0" err="1"/>
              <a:t>והתמונו</a:t>
            </a:r>
            <a:r>
              <a:rPr lang="he-I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1328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D7897DC-A4A9-47D0-BDAF-65540A219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846" y="413426"/>
            <a:ext cx="11303346" cy="836579"/>
          </a:xfrm>
        </p:spPr>
        <p:txBody>
          <a:bodyPr>
            <a:normAutofit fontScale="90000"/>
          </a:bodyPr>
          <a:lstStyle/>
          <a:p>
            <a:pPr algn="r"/>
            <a:r>
              <a:rPr lang="he-IL" dirty="0"/>
              <a:t>מדיה מסורתית ואיך אנחנו מתחברים?</a:t>
            </a:r>
          </a:p>
        </p:txBody>
      </p:sp>
      <p:pic>
        <p:nvPicPr>
          <p:cNvPr id="4" name="מציין מיקום תוכן 3">
            <a:extLst>
              <a:ext uri="{FF2B5EF4-FFF2-40B4-BE49-F238E27FC236}">
                <a16:creationId xmlns:a16="http://schemas.microsoft.com/office/drawing/2014/main" id="{47B15120-CDBF-4DFA-B97B-4522A2EAF2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2418" y="1136050"/>
            <a:ext cx="10466766" cy="572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703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9D87D5A-7AF7-45C5-9B42-13F257571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השילוב של </a:t>
            </a:r>
            <a:r>
              <a:rPr lang="he-IL" dirty="0" err="1"/>
              <a:t>הדאטה</a:t>
            </a:r>
            <a:r>
              <a:rPr lang="he-IL" dirty="0"/>
              <a:t> המסורתית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FD7818E-858D-409B-B85D-8BDC63C4F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הדס וגל- איך אנחנו יכולים להתחבר למערך של </a:t>
            </a:r>
            <a:r>
              <a:rPr lang="he-IL" dirty="0" err="1"/>
              <a:t>פובליסיס</a:t>
            </a:r>
            <a:r>
              <a:rPr lang="he-IL" dirty="0"/>
              <a:t>? </a:t>
            </a:r>
          </a:p>
          <a:p>
            <a:r>
              <a:rPr lang="he-IL" dirty="0"/>
              <a:t>יהיה לנו גישה </a:t>
            </a:r>
            <a:r>
              <a:rPr lang="he-IL" dirty="0" err="1"/>
              <a:t>לאנליטיקס</a:t>
            </a:r>
            <a:r>
              <a:rPr lang="he-IL" dirty="0"/>
              <a:t> ע"י הלקוח</a:t>
            </a:r>
          </a:p>
          <a:p>
            <a:r>
              <a:rPr lang="he-IL" dirty="0"/>
              <a:t>נקבל מידע מהלקוח- מי היה ,הוסיף לסל ולא רכש (יש מייל + טלפון + שם) – דאטה חשובה</a:t>
            </a:r>
          </a:p>
          <a:p>
            <a:r>
              <a:rPr lang="he-IL" dirty="0"/>
              <a:t>נקבל רכישה של רוכשות שהיו בעבר- רכשו ונוכל לחזור אליהם בצורה מדויקת.</a:t>
            </a:r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/>
              <a:t>***</a:t>
            </a:r>
          </a:p>
          <a:p>
            <a:pPr marL="0" indent="0">
              <a:buNone/>
            </a:pPr>
            <a:r>
              <a:rPr lang="he-IL" dirty="0"/>
              <a:t>***</a:t>
            </a:r>
          </a:p>
          <a:p>
            <a:pPr marL="0" indent="0">
              <a:buNone/>
            </a:pPr>
            <a:r>
              <a:rPr lang="he-IL" dirty="0"/>
              <a:t>***</a:t>
            </a:r>
          </a:p>
          <a:p>
            <a:pPr marL="0" indent="0">
              <a:buNone/>
            </a:pPr>
            <a:r>
              <a:rPr lang="he-IL" dirty="0"/>
              <a:t>***</a:t>
            </a:r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</p:txBody>
      </p:sp>
      <p:sp>
        <p:nvSpPr>
          <p:cNvPr id="4" name="כותרת 1">
            <a:extLst>
              <a:ext uri="{FF2B5EF4-FFF2-40B4-BE49-F238E27FC236}">
                <a16:creationId xmlns:a16="http://schemas.microsoft.com/office/drawing/2014/main" id="{BE41A752-6A0B-4BB6-8441-AADBE0FE15B3}"/>
              </a:ext>
            </a:extLst>
          </p:cNvPr>
          <p:cNvSpPr txBox="1">
            <a:spLocks/>
          </p:cNvSpPr>
          <p:nvPr/>
        </p:nvSpPr>
        <p:spPr>
          <a:xfrm>
            <a:off x="-3015575" y="6237179"/>
            <a:ext cx="11799456" cy="1361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dirty="0"/>
              <a:t>כל היופי הזה... גם ללקוחות חו"ל!</a:t>
            </a:r>
          </a:p>
        </p:txBody>
      </p:sp>
    </p:spTree>
    <p:extLst>
      <p:ext uri="{BB962C8B-B14F-4D97-AF65-F5344CB8AC3E}">
        <p14:creationId xmlns:p14="http://schemas.microsoft.com/office/powerpoint/2010/main" val="3449185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7FEF82DD-C408-4325-9690-DDD57B8E4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4" y="77822"/>
            <a:ext cx="12053281" cy="678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2831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סוג עץ">
  <a:themeElements>
    <a:clrScheme name="סוג עץ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סוג עץ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סוג עץ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TM03090434[[fn=סוג עץ]]</Template>
  <TotalTime>12005</TotalTime>
  <Words>833</Words>
  <Application>Microsoft Office PowerPoint</Application>
  <PresentationFormat>מסך רחב</PresentationFormat>
  <Paragraphs>101</Paragraphs>
  <Slides>10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5" baseType="lpstr">
      <vt:lpstr>David</vt:lpstr>
      <vt:lpstr>Rockwell</vt:lpstr>
      <vt:lpstr>Rockwell Condensed</vt:lpstr>
      <vt:lpstr>Wingdings</vt:lpstr>
      <vt:lpstr>סוג עץ</vt:lpstr>
      <vt:lpstr>מתחילים ליצור Social graph   </vt:lpstr>
      <vt:lpstr>איפיון החברה</vt:lpstr>
      <vt:lpstr>קהל יעד:  </vt:lpstr>
      <vt:lpstr>איך החברה שלנו באה לידי ביטוי ל-</vt:lpstr>
      <vt:lpstr>איך אנחנו נגיע אליהם?</vt:lpstr>
      <vt:lpstr>זוכרים את זה? בואו נערוך את זה על </vt:lpstr>
      <vt:lpstr>אז מה יצא לנו     </vt:lpstr>
      <vt:lpstr>מדיה מסורתית ואיך אנחנו מתחברים?</vt:lpstr>
      <vt:lpstr>השילוב של הדאטה המסורתית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Hadas Israeli</dc:creator>
  <cp:lastModifiedBy>Tal Ohana</cp:lastModifiedBy>
  <cp:revision>31</cp:revision>
  <dcterms:created xsi:type="dcterms:W3CDTF">2021-11-03T20:56:47Z</dcterms:created>
  <dcterms:modified xsi:type="dcterms:W3CDTF">2021-11-23T19:24:48Z</dcterms:modified>
</cp:coreProperties>
</file>
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58" r:id="rId5"/>
    <p:sldId id="260" r:id="rId6"/>
    <p:sldId id="262" r:id="rId7"/>
    <p:sldId id="261" r:id="rId8"/>
    <p:sldId id="263" r:id="rId9"/>
    <p:sldId id="264" r:id="rId10"/>
    <p:sldId id="266" r:id="rId11"/>
    <p:sldId id="267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CC00CC"/>
    <a:srgbClr val="FFFF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6F780-FADC-4DF0-970D-211FC569D5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2F41DC-3159-4FC4-928F-5C31DF6E46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23066-E8A6-4C31-AEA5-544C0F2A9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3B92F-BF61-42E7-9FF7-E0DDAA6B7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F4961-E882-4541-BE26-6F61556A0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3960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A8AA-DF27-4E96-BE16-B0DFD657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2B6F6-2D50-4F13-8EAD-2FBA5750F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C103E-F008-4F9E-8448-D340606C4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7169E-1973-428C-B4D2-83C082F3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0F9DB-86DE-4DC7-85DC-53213C8B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6405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574C9-4665-456D-A36E-AE5A05D9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ADF267-3897-4E40-B491-CB32192C9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0497E-78C4-4C92-B83B-43672ECD5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6163-14FE-4660-A811-48CB462D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3B88F-AB53-4563-B047-DD5563DE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487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6C5FA-BE9D-42BD-A4D0-6103D531B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58F6E-F246-49DE-B92B-3B56C756DB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DCC6A-DD9C-4F79-8EC2-64BB9E7F8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E177-223C-4A1A-9970-8081069E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949AD2-D72E-4686-AF34-A614F5952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F65CD3-19BF-4CEB-B4DD-28994295C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922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A33E-63E7-42E4-B8F0-1F99E6481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6EE4C-7888-4297-BE4A-9DB5BC26E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2E1DD-13C6-4F2A-A993-AA115CB700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7A666-9053-4371-A87E-B69A9C77F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9BF77-D621-48C1-A0D0-338771CBC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F04D72-DE1F-4C85-B273-F28233B7B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96FB12-8C9E-4F53-8DB1-B6E6637B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69E9EE-EBEB-4BE3-B5B4-A58F5D722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40874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33D1A-4C78-4AEF-ACDE-9D4CF83C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E9700-8249-4BF2-8E63-92DF00B82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398F7D-AE39-4A61-860A-741404AFD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428FB4-5BF6-4A68-91E9-40BA841F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9630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99832F-9CDB-4A91-85F9-E9E150249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DC43F-DC4E-44FA-815E-28274DEB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750CA-8F03-48C7-AB10-96AA251B3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5883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F3DBB-5280-4D3F-8FC8-16CF960DE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6FA2C-6982-43D8-B3B9-7E91F9CD1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A0387-0E4E-48D7-A2EC-E19C2B726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FB0A8-6CD1-4919-987E-0F374753F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5D256-FAB3-4FEE-9B23-0A53FE36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636619-564F-421A-8AB4-F17A70050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8724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25899-EE69-4863-8BC2-C139D2904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A2F87F-E6E9-4133-ABB8-EAA70325B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57050-89B6-49B1-8629-22B5F4735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75448-5FE5-4F2C-A0F3-11BB3094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01E15E-11E4-40D1-891E-A4C3A7A4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D53F3-18CE-413C-B1BF-BF3E0DBA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2124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75F5F-EA43-4C6D-8D8E-B5D832191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8B595-F461-42EE-A504-897BCAF9A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8C3729-3D19-4953-A47E-DA3A27C1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860FB-EF7C-4BF6-9C5D-529C8B400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F6F5F-DFDA-4CCE-A114-F043B4EB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6873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93A48D-9AD8-43D4-ABCF-C71BB3850C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17DB0-6FC9-4534-8700-49322823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9EFAF-0BB7-472E-9E08-C4F821CC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18CE9-E2B0-4316-A83F-5D3971F78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90635-28E6-44C8-ADD8-E5348CC4E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8749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C46CE-EB5E-4D4B-ACF3-09CAAE417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4BA3-26B0-4D6A-8117-46348F9C1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9EDF9-C7D1-4A2E-9EEC-5F2A00DEE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D4129-8459-458F-8B75-98E61C4902E8}" type="datetimeFigureOut">
              <a:rPr lang="en-IL" smtClean="0"/>
              <a:t>04/11/2021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6830B-81D7-417E-A53C-39127B40C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A0D2B-4652-428F-A1D9-5E465A1B47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6F268-4322-452C-97B0-CB354C81C486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5172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9796CE9-B453-4256-9E89-4C6899E23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/>
              <a:t>המוצר ומה באנו לעשות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/>
              <a:t>מה צריכים לדעת על הלקוח</a:t>
            </a:r>
            <a:endParaRPr lang="en-US" sz="3600" dirty="0"/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3600" dirty="0"/>
              <a:t>נושאים פתוחים לדיון</a:t>
            </a:r>
            <a:endParaRPr lang="en-IL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A4D4A2B-1029-4BB1-8028-18906796C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/>
          <a:p>
            <a:r>
              <a:rPr lang="he-IL" sz="4400" dirty="0">
                <a:solidFill>
                  <a:srgbClr val="0070C0"/>
                </a:solidFill>
              </a:rPr>
              <a:t>אג'נדה</a:t>
            </a:r>
            <a:endParaRPr lang="en-IL" sz="4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827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he-IL" sz="4400" dirty="0">
                <a:solidFill>
                  <a:srgbClr val="0070C0"/>
                </a:solidFill>
              </a:rPr>
              <a:t>מה באנו לעשות?</a:t>
            </a:r>
            <a:endParaRPr lang="en-IL" sz="44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96CE9-B453-4256-9E89-4C6899E23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3600" dirty="0"/>
              <a:t>להניע קבלת החלטות באמצעות טקטיקות שיווק </a:t>
            </a:r>
            <a:br>
              <a:rPr lang="en-US" sz="3600" dirty="0"/>
            </a:br>
            <a:r>
              <a:rPr lang="he-IL" sz="3600" b="1" dirty="0"/>
              <a:t>לא קונבנציונאליות</a:t>
            </a:r>
            <a:endParaRPr lang="en-IL" sz="3600" b="1" dirty="0"/>
          </a:p>
        </p:txBody>
      </p:sp>
    </p:spTree>
    <p:extLst>
      <p:ext uri="{BB962C8B-B14F-4D97-AF65-F5344CB8AC3E}">
        <p14:creationId xmlns:p14="http://schemas.microsoft.com/office/powerpoint/2010/main" val="3894606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fluential Communities in Social Network : Simplified | by Prakhar Ganesh  | Towards Data Science">
            <a:extLst>
              <a:ext uri="{FF2B5EF4-FFF2-40B4-BE49-F238E27FC236}">
                <a16:creationId xmlns:a16="http://schemas.microsoft.com/office/drawing/2014/main" id="{48C30614-2023-4018-87DB-85223C21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36" y="1705827"/>
            <a:ext cx="5227642" cy="476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9796CE9-B453-4256-9E89-4C6899E23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6061" y="1058651"/>
            <a:ext cx="5775569" cy="2684917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he-IL" sz="2800" dirty="0"/>
              <a:t>הטקטיקה:</a:t>
            </a:r>
            <a:br>
              <a:rPr lang="en-US" sz="2800" dirty="0"/>
            </a:br>
            <a:r>
              <a:rPr lang="he-IL" sz="2800" dirty="0"/>
              <a:t>נפגוש את הפרסונה דרך </a:t>
            </a:r>
            <a:r>
              <a:rPr lang="en-US" sz="2800" dirty="0"/>
              <a:t>Social Graph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265220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nfluential Communities in Social Network : Simplified | by Prakhar Ganesh  | Towards Data Science">
            <a:extLst>
              <a:ext uri="{FF2B5EF4-FFF2-40B4-BE49-F238E27FC236}">
                <a16:creationId xmlns:a16="http://schemas.microsoft.com/office/drawing/2014/main" id="{48C30614-2023-4018-87DB-85223C214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836" y="1705827"/>
            <a:ext cx="5227642" cy="4760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9796CE9-B453-4256-9E89-4C6899E23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1199" y="1058651"/>
            <a:ext cx="5400431" cy="3857226"/>
          </a:xfrm>
        </p:spPr>
        <p:txBody>
          <a:bodyPr>
            <a:noAutofit/>
          </a:bodyPr>
          <a:lstStyle/>
          <a:p>
            <a:pPr algn="r" rtl="1">
              <a:lnSpc>
                <a:spcPct val="160000"/>
              </a:lnSpc>
            </a:pPr>
            <a:r>
              <a:rPr lang="he-IL" sz="2000" dirty="0">
                <a:solidFill>
                  <a:schemeClr val="accent1"/>
                </a:solidFill>
              </a:rPr>
              <a:t>מה הופך את טקטיקת השיווק ללא קונבנציונאלית?  </a:t>
            </a:r>
          </a:p>
          <a:p>
            <a:pPr algn="r" rtl="1">
              <a:lnSpc>
                <a:spcPct val="160000"/>
              </a:lnSpc>
            </a:pPr>
            <a:r>
              <a:rPr lang="he-IL" sz="2000" dirty="0"/>
              <a:t>אנחנו לא מסתפקים בזיהוי של הדס כלקוחה פוטנציאלית חדשה ובפרסום ל"הדס", אנחנו רוצים לגרום להדס לקבל את ההחלטה באופן חד משמעי דרך החברים שלה</a:t>
            </a:r>
            <a:br>
              <a:rPr lang="en-US" sz="2000" dirty="0"/>
            </a:br>
            <a:br>
              <a:rPr lang="en-US" sz="2000" dirty="0"/>
            </a:br>
            <a:r>
              <a:rPr lang="he-IL" sz="2000" dirty="0">
                <a:solidFill>
                  <a:schemeClr val="accent1"/>
                </a:solidFill>
              </a:rPr>
              <a:t>איך נעשה זאת? </a:t>
            </a:r>
          </a:p>
          <a:p>
            <a:pPr algn="r" rtl="1">
              <a:lnSpc>
                <a:spcPct val="160000"/>
              </a:lnSpc>
            </a:pPr>
            <a:r>
              <a:rPr lang="he-IL" sz="2000" dirty="0"/>
              <a:t>גם החברים של הדס ייחשפו לתכנים , כך ניצור שיח בין חברים שיוביל לקבלת החלטה שבחרנו לקדם</a:t>
            </a:r>
            <a:endParaRPr lang="en-IL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AD2D54-A494-41B3-9974-88ACF8B7B567}"/>
              </a:ext>
            </a:extLst>
          </p:cNvPr>
          <p:cNvSpPr/>
          <p:nvPr/>
        </p:nvSpPr>
        <p:spPr>
          <a:xfrm>
            <a:off x="4618652" y="4229284"/>
            <a:ext cx="1172547" cy="2523457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2495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400" dirty="0">
                <a:solidFill>
                  <a:srgbClr val="0070C0"/>
                </a:solidFill>
              </a:rPr>
              <a:t>Social Graph </a:t>
            </a:r>
            <a:r>
              <a:rPr lang="he-IL" sz="4400" dirty="0">
                <a:solidFill>
                  <a:srgbClr val="0070C0"/>
                </a:solidFill>
              </a:rPr>
              <a:t>קצת על</a:t>
            </a:r>
            <a:endParaRPr lang="en-IL" sz="4400" dirty="0">
              <a:solidFill>
                <a:srgbClr val="0070C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96CE9-B453-4256-9E89-4C6899E238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3600" dirty="0"/>
              <a:t>בפשטות, היכולת </a:t>
            </a:r>
            <a:r>
              <a:rPr lang="he-IL" sz="3600" b="1" dirty="0"/>
              <a:t>ליצור</a:t>
            </a:r>
            <a:r>
              <a:rPr lang="he-IL" sz="3600" dirty="0"/>
              <a:t> את הקהל אליו רוצים להגיע, </a:t>
            </a:r>
            <a:r>
              <a:rPr lang="he-IL" sz="3600" b="1" dirty="0"/>
              <a:t>להכיר</a:t>
            </a:r>
            <a:r>
              <a:rPr lang="he-IL" sz="3600" dirty="0"/>
              <a:t> אותו ואת החברים שלו וכך </a:t>
            </a:r>
            <a:r>
              <a:rPr lang="he-IL" sz="3600" b="1" dirty="0"/>
              <a:t>לבנות</a:t>
            </a:r>
            <a:r>
              <a:rPr lang="he-IL" sz="3600" dirty="0"/>
              <a:t> את טקטיקת השיווק</a:t>
            </a:r>
            <a:endParaRPr lang="en-IL" sz="3600" dirty="0"/>
          </a:p>
        </p:txBody>
      </p:sp>
    </p:spTree>
    <p:extLst>
      <p:ext uri="{BB962C8B-B14F-4D97-AF65-F5344CB8AC3E}">
        <p14:creationId xmlns:p14="http://schemas.microsoft.com/office/powerpoint/2010/main" val="1552994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Instagram, logo Free Icon of Vector Logo">
            <a:extLst>
              <a:ext uri="{FF2B5EF4-FFF2-40B4-BE49-F238E27FC236}">
                <a16:creationId xmlns:a16="http://schemas.microsoft.com/office/drawing/2014/main" id="{A7DCD7A7-BC9C-4B1A-B2E1-E411488C0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966" y="40968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E0523F-8A54-423C-8C03-C27107428F6C}"/>
              </a:ext>
            </a:extLst>
          </p:cNvPr>
          <p:cNvSpPr/>
          <p:nvPr/>
        </p:nvSpPr>
        <p:spPr>
          <a:xfrm>
            <a:off x="10277231" y="2321169"/>
            <a:ext cx="984738" cy="647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7765A85-B300-4DAF-A49E-80F6E865BF31}"/>
              </a:ext>
            </a:extLst>
          </p:cNvPr>
          <p:cNvGrpSpPr/>
          <p:nvPr/>
        </p:nvGrpSpPr>
        <p:grpSpPr>
          <a:xfrm>
            <a:off x="8581293" y="3265124"/>
            <a:ext cx="2164861" cy="624130"/>
            <a:chOff x="9769227" y="2344617"/>
            <a:chExt cx="1678607" cy="624130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3B7F93D-5F72-4BC8-8C38-A937ED03A9B1}"/>
                </a:ext>
              </a:extLst>
            </p:cNvPr>
            <p:cNvCxnSpPr>
              <a:cxnSpLocks/>
            </p:cNvCxnSpPr>
            <p:nvPr/>
          </p:nvCxnSpPr>
          <p:spPr>
            <a:xfrm>
              <a:off x="9980246" y="2968747"/>
              <a:ext cx="1211385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A78C2DC-8C66-4216-AF68-F94E32BF108B}"/>
                </a:ext>
              </a:extLst>
            </p:cNvPr>
            <p:cNvSpPr/>
            <p:nvPr/>
          </p:nvSpPr>
          <p:spPr>
            <a:xfrm>
              <a:off x="9769227" y="2344617"/>
              <a:ext cx="1678607" cy="5928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he-IL" b="1" dirty="0">
                  <a:solidFill>
                    <a:schemeClr val="tx1"/>
                  </a:solidFill>
                </a:rPr>
                <a:t>משפיענים: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he-IL" dirty="0">
                  <a:solidFill>
                    <a:schemeClr val="tx1"/>
                  </a:solidFill>
                </a:rPr>
                <a:t>משפיענים חדשים שהיום מתחת לרדאר</a:t>
              </a:r>
              <a:endParaRPr lang="en-IL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61864F1E-438E-437A-AAC4-47F303E457EB}"/>
              </a:ext>
            </a:extLst>
          </p:cNvPr>
          <p:cNvGrpSpPr/>
          <p:nvPr/>
        </p:nvGrpSpPr>
        <p:grpSpPr>
          <a:xfrm>
            <a:off x="5728678" y="3265124"/>
            <a:ext cx="1699846" cy="624130"/>
            <a:chOff x="9980246" y="2344617"/>
            <a:chExt cx="1211385" cy="624130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DAF7AF28-B87E-4A6C-B106-C447E0EA4493}"/>
                </a:ext>
              </a:extLst>
            </p:cNvPr>
            <p:cNvCxnSpPr>
              <a:cxnSpLocks/>
            </p:cNvCxnSpPr>
            <p:nvPr/>
          </p:nvCxnSpPr>
          <p:spPr>
            <a:xfrm>
              <a:off x="9980246" y="2968747"/>
              <a:ext cx="1211385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AFA7D41-B29C-498E-BE9F-ACCEFE969AE8}"/>
                </a:ext>
              </a:extLst>
            </p:cNvPr>
            <p:cNvSpPr/>
            <p:nvPr/>
          </p:nvSpPr>
          <p:spPr>
            <a:xfrm>
              <a:off x="9980246" y="2344617"/>
              <a:ext cx="1211385" cy="5928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he-IL" b="1" dirty="0">
                  <a:solidFill>
                    <a:schemeClr val="tx1"/>
                  </a:solidFill>
                </a:rPr>
                <a:t>קהל יעד: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he-IL" dirty="0">
                  <a:solidFill>
                    <a:schemeClr val="tx1"/>
                  </a:solidFill>
                </a:rPr>
                <a:t>בעלי פוטנציאל גבוהה להמרה</a:t>
              </a:r>
              <a:endParaRPr lang="en-IL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7E3A9EF3-56A7-4A39-9A5C-78FA1CFB98F9}"/>
              </a:ext>
            </a:extLst>
          </p:cNvPr>
          <p:cNvGrpSpPr/>
          <p:nvPr/>
        </p:nvGrpSpPr>
        <p:grpSpPr>
          <a:xfrm>
            <a:off x="2579074" y="3265124"/>
            <a:ext cx="1992437" cy="624130"/>
            <a:chOff x="9739212" y="2344617"/>
            <a:chExt cx="1499309" cy="624130"/>
          </a:xfrm>
        </p:grpSpPr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A0D4AD57-323B-4364-A1BD-AF435950757F}"/>
                </a:ext>
              </a:extLst>
            </p:cNvPr>
            <p:cNvCxnSpPr>
              <a:cxnSpLocks/>
            </p:cNvCxnSpPr>
            <p:nvPr/>
          </p:nvCxnSpPr>
          <p:spPr>
            <a:xfrm>
              <a:off x="9980246" y="2968747"/>
              <a:ext cx="1211385" cy="0"/>
            </a:xfrm>
            <a:prstGeom prst="line">
              <a:avLst/>
            </a:prstGeom>
            <a:ln w="28575">
              <a:solidFill>
                <a:srgbClr val="CC00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728E90C-D37D-448C-910B-E6BEB4F0E091}"/>
                </a:ext>
              </a:extLst>
            </p:cNvPr>
            <p:cNvSpPr/>
            <p:nvPr/>
          </p:nvSpPr>
          <p:spPr>
            <a:xfrm>
              <a:off x="9739212" y="2344617"/>
              <a:ext cx="1499309" cy="59287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/>
              <a:r>
                <a:rPr lang="he-IL" b="1" dirty="0">
                  <a:solidFill>
                    <a:schemeClr val="tx1"/>
                  </a:solidFill>
                </a:rPr>
                <a:t>קשרים:</a:t>
              </a:r>
              <a:br>
                <a:rPr lang="en-US" dirty="0">
                  <a:solidFill>
                    <a:schemeClr val="tx1"/>
                  </a:solidFill>
                </a:rPr>
              </a:br>
              <a:r>
                <a:rPr lang="he-IL" dirty="0">
                  <a:solidFill>
                    <a:schemeClr val="tx1"/>
                  </a:solidFill>
                </a:rPr>
                <a:t>חברים קרובים בעלי השפעה</a:t>
              </a:r>
              <a:endParaRPr lang="en-IL" dirty="0">
                <a:solidFill>
                  <a:schemeClr val="tx1"/>
                </a:solidFill>
              </a:endParaRPr>
            </a:p>
          </p:txBody>
        </p:sp>
      </p:grpSp>
      <p:sp>
        <p:nvSpPr>
          <p:cNvPr id="83" name="Title 1">
            <a:extLst>
              <a:ext uri="{FF2B5EF4-FFF2-40B4-BE49-F238E27FC236}">
                <a16:creationId xmlns:a16="http://schemas.microsoft.com/office/drawing/2014/main" id="{FD05DCCB-104D-4EE6-9C5F-83A8FA5D9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0058" y="1555474"/>
            <a:ext cx="12128440" cy="647578"/>
          </a:xfrm>
        </p:spPr>
        <p:txBody>
          <a:bodyPr anchor="ctr">
            <a:normAutofit fontScale="90000"/>
          </a:bodyPr>
          <a:lstStyle/>
          <a:p>
            <a:pPr algn="r" rtl="1"/>
            <a:r>
              <a:rPr lang="he-IL" sz="4400" dirty="0">
                <a:solidFill>
                  <a:srgbClr val="CC00CC"/>
                </a:solidFill>
              </a:rPr>
              <a:t>הכוח שלנו – לייצר</a:t>
            </a:r>
            <a:r>
              <a:rPr lang="en-US" sz="4400" dirty="0">
                <a:solidFill>
                  <a:srgbClr val="CC00CC"/>
                </a:solidFill>
              </a:rPr>
              <a:t> Social graph </a:t>
            </a:r>
            <a:r>
              <a:rPr lang="he-IL" sz="4400" dirty="0">
                <a:solidFill>
                  <a:srgbClr val="CC00CC"/>
                </a:solidFill>
              </a:rPr>
              <a:t>שלא קיים בעולם המכירה:</a:t>
            </a:r>
            <a:endParaRPr lang="en-IL" sz="4400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0570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339" y="1555474"/>
            <a:ext cx="11290042" cy="647578"/>
          </a:xfrm>
        </p:spPr>
        <p:txBody>
          <a:bodyPr anchor="ctr">
            <a:normAutofit fontScale="90000"/>
          </a:bodyPr>
          <a:lstStyle/>
          <a:p>
            <a:pPr algn="r"/>
            <a:r>
              <a:rPr lang="he-IL" sz="4400" dirty="0">
                <a:solidFill>
                  <a:srgbClr val="CC00CC"/>
                </a:solidFill>
              </a:rPr>
              <a:t>נתחיל ביצירת מאגר אנשים</a:t>
            </a:r>
            <a:endParaRPr lang="en-IL" sz="4400" dirty="0">
              <a:solidFill>
                <a:srgbClr val="CC00C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796CE9-B453-4256-9E89-4C6899E238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5631" y="2476622"/>
            <a:ext cx="9144000" cy="2626824"/>
          </a:xfrm>
        </p:spPr>
        <p:txBody>
          <a:bodyPr>
            <a:norm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עוקבים והחברים שלהם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עוקבים אחר מתחרים והחברים שלהם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עוקבים אחר משפיענים בתחום והחברים שלהם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עוקבים אחרי משפיענים פוטנציאליים</a:t>
            </a:r>
          </a:p>
          <a:p>
            <a:pPr algn="r" rtl="1"/>
            <a:endParaRPr lang="en-IL" sz="3600" dirty="0"/>
          </a:p>
        </p:txBody>
      </p:sp>
      <p:pic>
        <p:nvPicPr>
          <p:cNvPr id="2056" name="Picture 8" descr="Instagram, logo Free Icon of Vector Logo">
            <a:extLst>
              <a:ext uri="{FF2B5EF4-FFF2-40B4-BE49-F238E27FC236}">
                <a16:creationId xmlns:a16="http://schemas.microsoft.com/office/drawing/2014/main" id="{A7DCD7A7-BC9C-4B1A-B2E1-E411488C0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966" y="40968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805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Picture 8" descr="Instagram, logo Free Icon of Vector Logo">
            <a:extLst>
              <a:ext uri="{FF2B5EF4-FFF2-40B4-BE49-F238E27FC236}">
                <a16:creationId xmlns:a16="http://schemas.microsoft.com/office/drawing/2014/main" id="{A7DCD7A7-BC9C-4B1A-B2E1-E411488C0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966" y="40968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E0523F-8A54-423C-8C03-C27107428F6C}"/>
              </a:ext>
            </a:extLst>
          </p:cNvPr>
          <p:cNvSpPr/>
          <p:nvPr/>
        </p:nvSpPr>
        <p:spPr>
          <a:xfrm>
            <a:off x="10277231" y="2321169"/>
            <a:ext cx="984738" cy="6475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0" name="Subtitle 2">
            <a:extLst>
              <a:ext uri="{FF2B5EF4-FFF2-40B4-BE49-F238E27FC236}">
                <a16:creationId xmlns:a16="http://schemas.microsoft.com/office/drawing/2014/main" id="{B73CC38E-585E-4A64-A07C-02FDD2D52777}"/>
              </a:ext>
            </a:extLst>
          </p:cNvPr>
          <p:cNvSpPr txBox="1">
            <a:spLocks/>
          </p:cNvSpPr>
          <p:nvPr/>
        </p:nvSpPr>
        <p:spPr>
          <a:xfrm>
            <a:off x="1484922" y="1968043"/>
            <a:ext cx="10128739" cy="32724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r" rtl="1">
              <a:buFont typeface="Arial" panose="020B0604020202020204" pitchFamily="34" charset="0"/>
              <a:buChar char="•"/>
            </a:pPr>
            <a:endParaRPr lang="he-IL" sz="3600" dirty="0"/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איך נזקק משפיענים פוטנציאליים: לפי מספר עוקבים ותחום עניין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איך נזקק את תחומי העניין: ניתוח סטורי, פוסטים, האשטגים, תמונות, לייקים (שמקבל ונותן)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מידע דמוגרפי: האם מבלה עכשיו בקרבת העסק, גיל, מין, האם יש ילדים, אם הצטרף עכשיו ילד חדש למשפחה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ועוד... </a:t>
            </a:r>
            <a:endParaRPr lang="he-IL" sz="3200" dirty="0"/>
          </a:p>
          <a:p>
            <a:pPr marL="571500" indent="-571500" algn="r" rtl="1">
              <a:buFont typeface="Arial" panose="020B0604020202020204" pitchFamily="34" charset="0"/>
              <a:buChar char="•"/>
            </a:pPr>
            <a:endParaRPr lang="en-IL" sz="3600" dirty="0"/>
          </a:p>
        </p:txBody>
      </p:sp>
      <p:sp>
        <p:nvSpPr>
          <p:cNvPr id="83" name="Title 1">
            <a:extLst>
              <a:ext uri="{FF2B5EF4-FFF2-40B4-BE49-F238E27FC236}">
                <a16:creationId xmlns:a16="http://schemas.microsoft.com/office/drawing/2014/main" id="{FD05DCCB-104D-4EE6-9C5F-83A8FA5D9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339" y="1555474"/>
            <a:ext cx="11290042" cy="647578"/>
          </a:xfrm>
        </p:spPr>
        <p:txBody>
          <a:bodyPr anchor="ctr">
            <a:normAutofit fontScale="90000"/>
          </a:bodyPr>
          <a:lstStyle/>
          <a:p>
            <a:pPr algn="r"/>
            <a:r>
              <a:rPr lang="he-IL" sz="4400" dirty="0">
                <a:solidFill>
                  <a:srgbClr val="CC00CC"/>
                </a:solidFill>
              </a:rPr>
              <a:t>אנחנו יודעים הרבה.. </a:t>
            </a:r>
            <a:endParaRPr lang="en-IL" sz="4400" dirty="0">
              <a:solidFill>
                <a:srgbClr val="CC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48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he-IL" sz="4400" dirty="0">
                <a:solidFill>
                  <a:srgbClr val="0070C0"/>
                </a:solidFill>
              </a:rPr>
              <a:t>מה חשוב לנו לדעת על העסק</a:t>
            </a:r>
            <a:endParaRPr lang="en-IL" sz="4400" dirty="0">
              <a:solidFill>
                <a:srgbClr val="0070C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3D8356-42C8-4AD2-9EE0-99CEF51E8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512" y="2991793"/>
            <a:ext cx="9473824" cy="2595561"/>
          </a:xfrm>
        </p:spPr>
        <p:txBody>
          <a:bodyPr>
            <a:no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מי המתחרים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תחומי עניין מקבילים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משפיענים שיש היום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למי המוצר פונה?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האשטגים רלוונטיים, מידע בתמונות שיכול להעיד על רמת עניין 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מה טקטיקת השיווק</a:t>
            </a:r>
          </a:p>
        </p:txBody>
      </p:sp>
    </p:spTree>
    <p:extLst>
      <p:ext uri="{BB962C8B-B14F-4D97-AF65-F5344CB8AC3E}">
        <p14:creationId xmlns:p14="http://schemas.microsoft.com/office/powerpoint/2010/main" val="2388767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he-IL" sz="4400" dirty="0">
                <a:solidFill>
                  <a:srgbClr val="0070C0"/>
                </a:solidFill>
              </a:rPr>
              <a:t>נושאים נוספים לדיון</a:t>
            </a:r>
            <a:endParaRPr lang="en-IL" sz="4400" dirty="0">
              <a:solidFill>
                <a:srgbClr val="0070C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3D8356-42C8-4AD2-9EE0-99CEF51E8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1512" y="2991793"/>
            <a:ext cx="9473824" cy="2595561"/>
          </a:xfrm>
        </p:spPr>
        <p:txBody>
          <a:bodyPr>
            <a:noAutofit/>
          </a:bodyPr>
          <a:lstStyle/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היבט משפטי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איך מודדים את ההצלחה, יכול להשתנות מעסק לעסק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אסטרטג לבניית טקטיקת השיווק לקהלים שבנינו</a:t>
            </a:r>
          </a:p>
          <a:p>
            <a:pPr marL="571500" indent="-571500" algn="r" rtl="1">
              <a:buFont typeface="Arial" panose="020B0604020202020204" pitchFamily="34" charset="0"/>
              <a:buChar char="•"/>
            </a:pPr>
            <a:r>
              <a:rPr lang="he-IL" sz="2800" dirty="0"/>
              <a:t>מה השלב הראשון מול הלקוח ומה מציגים לו? </a:t>
            </a:r>
          </a:p>
        </p:txBody>
      </p:sp>
    </p:spTree>
    <p:extLst>
      <p:ext uri="{BB962C8B-B14F-4D97-AF65-F5344CB8AC3E}">
        <p14:creationId xmlns:p14="http://schemas.microsoft.com/office/powerpoint/2010/main" val="3609235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5908B-8D91-4322-BC29-1F85067CC0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1049" y="314366"/>
            <a:ext cx="6294618" cy="1040105"/>
          </a:xfrm>
        </p:spPr>
        <p:txBody>
          <a:bodyPr anchor="ctr">
            <a:normAutofit fontScale="90000"/>
          </a:bodyPr>
          <a:lstStyle/>
          <a:p>
            <a:pPr algn="l" rtl="1"/>
            <a:r>
              <a:rPr lang="he-IL" sz="4400" dirty="0">
                <a:solidFill>
                  <a:srgbClr val="0070C0"/>
                </a:solidFill>
              </a:rPr>
              <a:t>מתחילים ליצור </a:t>
            </a:r>
            <a:r>
              <a:rPr lang="en-US" sz="4400" dirty="0">
                <a:solidFill>
                  <a:srgbClr val="CC00CC"/>
                </a:solidFill>
              </a:rPr>
              <a:t>Social graph </a:t>
            </a:r>
            <a:br>
              <a:rPr lang="en-IL" sz="4400" dirty="0">
                <a:solidFill>
                  <a:srgbClr val="CC00CC"/>
                </a:solidFill>
              </a:rPr>
            </a:br>
            <a:r>
              <a:rPr lang="he-IL" sz="4400" dirty="0">
                <a:solidFill>
                  <a:srgbClr val="0070C0"/>
                </a:solidFill>
              </a:rPr>
              <a:t> </a:t>
            </a:r>
            <a:endParaRPr lang="en-IL" sz="4400" dirty="0">
              <a:solidFill>
                <a:srgbClr val="0070C0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538F103-5953-40D8-AEB4-8C56D9108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343" y="1128033"/>
            <a:ext cx="10732173" cy="2595561"/>
          </a:xfrm>
        </p:spPr>
        <p:txBody>
          <a:bodyPr>
            <a:noAutofit/>
          </a:bodyPr>
          <a:lstStyle/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 המתחרים? </a:t>
            </a:r>
            <a:br>
              <a:rPr lang="en-US" sz="1800" dirty="0"/>
            </a:br>
            <a:r>
              <a:rPr lang="he-IL" sz="1400" dirty="0"/>
              <a:t>עדיף שיהייה להם דף אינסטגרם</a:t>
            </a:r>
            <a:br>
              <a:rPr lang="en-US" sz="1400" dirty="0"/>
            </a:br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 מוכר לקהל יעד זהה ?</a:t>
            </a:r>
            <a:br>
              <a:rPr lang="en-US" sz="1800" dirty="0"/>
            </a:br>
            <a:r>
              <a:rPr lang="he-IL" sz="1400" dirty="0"/>
              <a:t>אפשר וכדאי להרחיב לפי כל סוג עסק שפונה לאותה אוכלוסייה שהיא כיום קהל היעד או קהל יעד שרוצה לפנות אליו, גם אם הוא לא במתחרה.</a:t>
            </a:r>
            <a:br>
              <a:rPr lang="en-US" sz="1400" dirty="0"/>
            </a:br>
            <a:r>
              <a:rPr lang="he-IL" sz="1400" dirty="0"/>
              <a:t>אני חושבת על מותגי אפנה/ איפור/ קוסמטיקה/ תכשיטים/ משקפי שמש/ טיפולי פנים (כמו שימוש בחומצה היאלרונית) ועוד. </a:t>
            </a:r>
            <a:br>
              <a:rPr lang="en-US" sz="1400" dirty="0"/>
            </a:br>
            <a:r>
              <a:rPr lang="he-IL" sz="1400" dirty="0"/>
              <a:t>טל, פה היצירתיות שלכם ושל נטע מההיכרות שלה על העסק תביא לנו קהל ראשוני מעניין לניתוח.</a:t>
            </a:r>
            <a:br>
              <a:rPr lang="en-US" sz="1400" dirty="0"/>
            </a:br>
            <a:br>
              <a:rPr lang="en-US" sz="1400" dirty="0"/>
            </a:br>
            <a:r>
              <a:rPr lang="he-IL" sz="1400" dirty="0"/>
              <a:t>לדוגמא דפים של דיור, ראלף לורן, לואיס ויטון, פדני, ג'ק קובה, שאנל, מלכה דיזינגוף (תכשיטים), מאליס (קרמים) ועוד ועוד...</a:t>
            </a:r>
          </a:p>
          <a:p>
            <a:pPr lvl="1" algn="r" rtl="1"/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 מתכנן נופש? בעדיפות לנופש יוקרתי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קבוצת אינסטגרם לחיפוש המלצות לטיול בחו"ל ו/או בארץ (עדיף קבוצות ממוקדות, למשל חיפוש ריזורטים בקאריביים)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קבוצת פייסבוק לחיפוש המלצות לטיול בחו"ל ו/או בארץ</a:t>
            </a:r>
          </a:p>
          <a:p>
            <a:pPr lvl="1" algn="r" rtl="1"/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מיהם מובילי דעת הקהל והמשפיענים הכי רלוונטיים: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משפיענים ישירים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משפיענים עקיפים - למשל בלוגר שקשור לטיולים ומפרסם ברים ביעדי נופש</a:t>
            </a:r>
          </a:p>
          <a:p>
            <a:pPr marL="1028700" lvl="1" indent="-571500" algn="r" rtl="1">
              <a:buFont typeface="+mj-lt"/>
              <a:buAutoNum type="alphaLcParenR"/>
            </a:pPr>
            <a:r>
              <a:rPr lang="he-IL" sz="1400" dirty="0"/>
              <a:t>סימן שאלה, אנחנו רוצים עובדים בחדרי כושר / מאמנים / יוגיסטים? </a:t>
            </a:r>
          </a:p>
          <a:p>
            <a:pPr lvl="1" algn="r" rtl="1"/>
            <a:endParaRPr lang="he-IL" sz="1400" dirty="0"/>
          </a:p>
          <a:p>
            <a:pPr marL="571500" indent="-571500" algn="r" rtl="1">
              <a:buFont typeface="+mj-lt"/>
              <a:buAutoNum type="alphaLcParenR"/>
            </a:pPr>
            <a:r>
              <a:rPr lang="he-IL" sz="1800" dirty="0"/>
              <a:t>יש קבוצת וואטסאפ שהיינו רוצים להיכנס אליה? </a:t>
            </a:r>
          </a:p>
          <a:p>
            <a:pPr lvl="1" algn="r" rtl="1"/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1742341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11921</TotalTime>
  <Words>496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Corbel</vt:lpstr>
      <vt:lpstr>Office Theme</vt:lpstr>
      <vt:lpstr>אג'נדה</vt:lpstr>
      <vt:lpstr>מה באנו לעשות?</vt:lpstr>
      <vt:lpstr>PowerPoint Presentation</vt:lpstr>
      <vt:lpstr>PowerPoint Presentation</vt:lpstr>
      <vt:lpstr>Social Graph קצת על</vt:lpstr>
      <vt:lpstr>הכוח שלנו – לייצר Social graph שלא קיים בעולם המכירה:</vt:lpstr>
      <vt:lpstr>נתחיל ביצירת מאגר אנשים</vt:lpstr>
      <vt:lpstr>אנחנו יודעים הרבה.. </vt:lpstr>
      <vt:lpstr>מה חשוב לנו לדעת על העסק</vt:lpstr>
      <vt:lpstr>נושאים נוספים לדיון</vt:lpstr>
      <vt:lpstr>מתחילים ליצור Social graph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Hadas Israeli</dc:creator>
  <cp:lastModifiedBy>Hadas Israeli</cp:lastModifiedBy>
  <cp:revision>10</cp:revision>
  <dcterms:created xsi:type="dcterms:W3CDTF">2021-11-03T20:56:47Z</dcterms:created>
  <dcterms:modified xsi:type="dcterms:W3CDTF">2021-11-12T13:32:38Z</dcterms:modified>
</cp:coreProperties>
</file>